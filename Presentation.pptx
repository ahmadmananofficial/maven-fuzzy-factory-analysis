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95C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 panose="020F0502020204030204"/>
              </a:rPr>
              <a:t>Monthly Sessions</a:t>
            </a:r>
            <a:endParaRPr sz="1300" b="0" i="0" u="none" strike="noStrike">
              <a:solidFill>
                <a:srgbClr val="21295C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Sessions</c:v>
                </c:pt>
              </c:strCache>
            </c:strRef>
          </c:tx>
          <c:spPr>
            <a:ln w="38100" cap="flat" cmpd="sng" algn="ctr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 cmpd="sng" algn="ctr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Mar '12</c:v>
                </c:pt>
                <c:pt idx="1">
                  <c:v>Sep '12</c:v>
                </c:pt>
                <c:pt idx="2">
                  <c:v>Mar '13</c:v>
                </c:pt>
                <c:pt idx="3">
                  <c:v>Sep '13</c:v>
                </c:pt>
                <c:pt idx="4">
                  <c:v>Mar '14</c:v>
                </c:pt>
                <c:pt idx="5">
                  <c:v>Sep '14</c:v>
                </c:pt>
                <c:pt idx="6">
                  <c:v>Feb '15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1879</c:v>
                </c:pt>
                <c:pt idx="1">
                  <c:v>6546</c:v>
                </c:pt>
                <c:pt idx="2">
                  <c:v>6264</c:v>
                </c:pt>
                <c:pt idx="3">
                  <c:v>9580</c:v>
                </c:pt>
                <c:pt idx="4">
                  <c:v>15669</c:v>
                </c:pt>
                <c:pt idx="5">
                  <c:v>19513</c:v>
                </c:pt>
                <c:pt idx="6">
                  <c:v>23778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Month ‘Year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4E9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Sessions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1698049-e261-47be-b01f-a8b97f25a92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95C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 panose="020F0502020204030204"/>
              </a:rPr>
              <a:t>Profit per Session ($)</a:t>
            </a:r>
            <a:endParaRPr sz="1300" b="0" i="0" u="none" strike="noStrike">
              <a:solidFill>
                <a:srgbClr val="21295C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per session ($)</c:v>
                </c:pt>
              </c:strCache>
            </c:strRef>
          </c:tx>
          <c:spPr>
            <a:ln w="38100" cap="flat" cmpd="sng" algn="ctr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 cmpd="sng" algn="ctr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Mar '12</c:v>
                </c:pt>
                <c:pt idx="1">
                  <c:v>Sep '12</c:v>
                </c:pt>
                <c:pt idx="2">
                  <c:v>Mar '13</c:v>
                </c:pt>
                <c:pt idx="3">
                  <c:v>Sep '13</c:v>
                </c:pt>
                <c:pt idx="4">
                  <c:v>Mar '14</c:v>
                </c:pt>
                <c:pt idx="5">
                  <c:v>Sep '14</c:v>
                </c:pt>
                <c:pt idx="6">
                  <c:v>Feb '15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</c:v>
                </c:pt>
                <c:pt idx="1">
                  <c:v>1.1</c:v>
                </c:pt>
                <c:pt idx="2">
                  <c:v>1.8</c:v>
                </c:pt>
                <c:pt idx="3">
                  <c:v>2</c:v>
                </c:pt>
                <c:pt idx="4">
                  <c:v>2.6</c:v>
                </c:pt>
                <c:pt idx="5">
                  <c:v>2.5</c:v>
                </c:pt>
                <c:pt idx="6">
                  <c:v>3.3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Month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4E9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Profit per Session ($)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&quot;$&quot;0.0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a183b6e-394d-49c7-866a-d2191eb82bc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Sessions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Google Non-Brand</c:v>
                </c:pt>
                <c:pt idx="1">
                  <c:v>Untracked /
Unknown</c:v>
                </c:pt>
                <c:pt idx="2">
                  <c:v>Bing Non-Brand</c:v>
                </c:pt>
                <c:pt idx="3">
                  <c:v>Google Brand</c:v>
                </c:pt>
                <c:pt idx="4">
                  <c:v>Bing Brand</c:v>
                </c:pt>
                <c:pt idx="5">
                  <c:v>Social Media(Desktop)</c:v>
                </c:pt>
                <c:pt idx="6">
                  <c:v>Social Media(Pilot)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59.8</c:v>
                </c:pt>
                <c:pt idx="1">
                  <c:v>17.6</c:v>
                </c:pt>
                <c:pt idx="2">
                  <c:v>11.6</c:v>
                </c:pt>
                <c:pt idx="3">
                  <c:v>7</c:v>
                </c:pt>
                <c:pt idx="4">
                  <c:v>1.7</c:v>
                </c:pt>
                <c:pt idx="5">
                  <c:v>1.2</c:v>
                </c:pt>
                <c:pt idx="6">
                  <c:v>1.1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6350" cap="flat" cmpd="sng" algn="ctr">
              <a:solidFill>
                <a:schemeClr val="accent2"/>
              </a:solidFill>
              <a:prstDash val="dash"/>
              <a:miter lim="800000"/>
            </a:ln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marker>
            <c:symbol val="circle"/>
            <c:size val="7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dash"/>
                <a:miter lim="800000"/>
              </a:ln>
              <a:sp3d>
                <a:extrusionClr>
                  <a:srgbClr val="FFFFFF"/>
                </a:extrusionClr>
                <a:contourClr>
                  <a:srgbClr val="FFFFFF"/>
                </a:contourClr>
              </a:sp3d>
            </c:spPr>
          </c:marker>
          <c:dLbls>
            <c:dLbl>
              <c:idx val="0"/>
              <c:layout>
                <c:manualLayout>
                  <c:x val="0.00211416490486258"/>
                  <c:y val="-0.00236111111111111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&quot;%&quot;" sourceLinked="0"/>
            <c:spPr>
              <a:pattFill prst="pct5">
                <a:fgClr>
                  <a:schemeClr val="bg1">
                    <a:lumMod val="95000"/>
                  </a:schemeClr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Google Non-Brand</c:v>
                </c:pt>
                <c:pt idx="1">
                  <c:v>Untracked /
Unknown</c:v>
                </c:pt>
                <c:pt idx="2">
                  <c:v>Bing Non-Brand</c:v>
                </c:pt>
                <c:pt idx="3">
                  <c:v>Google Brand</c:v>
                </c:pt>
                <c:pt idx="4">
                  <c:v>Bing Brand</c:v>
                </c:pt>
                <c:pt idx="5">
                  <c:v>Social Media(Desktop)</c:v>
                </c:pt>
                <c:pt idx="6">
                  <c:v>Social Media(Pilot)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6.7</c:v>
                </c:pt>
                <c:pt idx="1">
                  <c:v>7.3</c:v>
                </c:pt>
                <c:pt idx="2">
                  <c:v>7</c:v>
                </c:pt>
                <c:pt idx="3">
                  <c:v>7.5</c:v>
                </c:pt>
                <c:pt idx="4">
                  <c:v>8.9</c:v>
                </c:pt>
                <c:pt idx="5">
                  <c:v>5.2</c:v>
                </c:pt>
                <c:pt idx="6">
                  <c:v>1.1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31109291"/>
        <c:axId val="270359831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Traffic Source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Session Share %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catAx>
        <c:axId val="431109291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70359831"/>
        <c:crosses val="autoZero"/>
        <c:auto val="1"/>
        <c:lblAlgn val="ctr"/>
        <c:lblOffset val="100"/>
        <c:noMultiLvlLbl val="0"/>
      </c:catAx>
      <c:valAx>
        <c:axId val="270359831"/>
        <c:scaling>
          <c:orientation val="minMax"/>
        </c:scaling>
        <c:delete val="0"/>
        <c:axPos val="r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Conversion Rate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31109291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a9368f6-7345-45be-bbca-0c77471fc32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21295C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 panose="020F0502020204030204"/>
              </a:rPr>
              <a:t>Conversion Rate %, by Campaign</a:t>
            </a:r>
            <a:endParaRPr sz="1300" b="0" i="0" u="none" strike="noStrike">
              <a:solidFill>
                <a:srgbClr val="21295C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rgbClr val="21295C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Bing Non-Brand</c:v>
                </c:pt>
                <c:pt idx="1">
                  <c:v>Google Non-Brand</c:v>
                </c:pt>
                <c:pt idx="2">
                  <c:v>Social Pilot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6.7</c:v>
                </c:pt>
                <c:pt idx="2">
                  <c:v>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Bing Non-Brand</c:v>
                </c:pt>
                <c:pt idx="1">
                  <c:v>Google Non-Brand</c:v>
                </c:pt>
                <c:pt idx="2">
                  <c:v>Social Pilot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1295C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4b0f86d-46a3-4576-b853-672df3e479b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Desktop</c:v>
                </c:pt>
              </c:strCache>
            </c:strRef>
          </c:tx>
          <c:spPr>
            <a:ln w="38100" cap="flat" cmpd="sng" algn="ctr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65A82"/>
              </a:solidFill>
              <a:ln w="9525" cap="flat" cmpd="sng" algn="ctr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0.021156330749354"/>
                  <c:y val="0.004875886524822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Product Page
(Viewed)</c:v>
                </c:pt>
                <c:pt idx="1">
                  <c:v>Cart
(Add to Cart)</c:v>
                </c:pt>
                <c:pt idx="2">
                  <c:v>Shipping
(Started)</c:v>
                </c:pt>
                <c:pt idx="3">
                  <c:v>Billing
(Started)</c:v>
                </c:pt>
                <c:pt idx="4">
                  <c:v>Order
(Completed)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58.8</c:v>
                </c:pt>
                <c:pt idx="1">
                  <c:v>23</c:v>
                </c:pt>
                <c:pt idx="2">
                  <c:v>16.1</c:v>
                </c:pt>
                <c:pt idx="3">
                  <c:v>13.4</c:v>
                </c:pt>
                <c:pt idx="4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ln w="38100" cap="flat" cmpd="sng" algn="ctr">
              <a:solidFill>
                <a:srgbClr val="E8734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734A"/>
              </a:solidFill>
              <a:ln w="9525" cap="flat" cmpd="sng" algn="ctr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0.0184108527131783"/>
                  <c:y val="-0.004875886524822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266472868217054"/>
                  <c:y val="0.0096040189125295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Product Page
(Viewed)</c:v>
                </c:pt>
                <c:pt idx="1">
                  <c:v>Cart
(Add to Cart)</c:v>
                </c:pt>
                <c:pt idx="2">
                  <c:v>Shipping
(Started)</c:v>
                </c:pt>
                <c:pt idx="3">
                  <c:v>Billing
(Started)</c:v>
                </c:pt>
                <c:pt idx="4">
                  <c:v>Order
(Completed)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47.2</c:v>
                </c:pt>
                <c:pt idx="1">
                  <c:v>13.6</c:v>
                </c:pt>
                <c:pt idx="2">
                  <c:v>8.1</c:v>
                </c:pt>
                <c:pt idx="3">
                  <c:v>5.7</c:v>
                </c:pt>
                <c:pt idx="4">
                  <c:v>3.1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min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dash"/>
              <a:miter lim="800000"/>
            </a:ln>
            <a:sp3d>
              <a:extrusionClr>
                <a:srgbClr val="FFFFFF"/>
              </a:extrusionClr>
              <a:contourClr>
                <a:srgbClr val="FFFFFF"/>
              </a:contourClr>
            </a:sp3d>
          </c:spPr>
        </c:min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21295C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% of Sessions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9ae0c7c-c202-489f-ae55-ee80d50865e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Refund Rate %</c:v>
                </c:pt>
              </c:strCache>
            </c:strRef>
          </c:tx>
          <c:spPr>
            <a:ln w="38100" cap="flat" cmpd="sng" algn="ctr">
              <a:solidFill>
                <a:srgbClr val="E8734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734A"/>
              </a:solidFill>
              <a:ln w="9525" cap="flat" cmpd="sng" algn="ctr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dLbls>
            <c:dLbl>
              <c:idx val="6"/>
              <c:layout>
                <c:manualLayout>
                  <c:x val="-0.00449764738444506"/>
                  <c:y val="-0.0092120181405895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9"/>
              <c:layout>
                <c:manualLayout>
                  <c:x val="0.0138389150290617"/>
                  <c:y val="-0.0087868480725623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Jan</c:v>
                </c:pt>
                <c:pt idx="13">
                  <c:v>Feb</c:v>
                </c:pt>
                <c:pt idx="14">
                  <c:v>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4.2</c:v>
                </c:pt>
                <c:pt idx="1">
                  <c:v>3.4</c:v>
                </c:pt>
                <c:pt idx="2">
                  <c:v>3.2</c:v>
                </c:pt>
                <c:pt idx="3">
                  <c:v>3.5</c:v>
                </c:pt>
                <c:pt idx="4">
                  <c:v>2.9</c:v>
                </c:pt>
                <c:pt idx="5">
                  <c:v>5</c:v>
                </c:pt>
                <c:pt idx="6">
                  <c:v>3.9</c:v>
                </c:pt>
                <c:pt idx="7">
                  <c:v>9.2</c:v>
                </c:pt>
                <c:pt idx="8">
                  <c:v>9.3</c:v>
                </c:pt>
                <c:pt idx="9">
                  <c:v>2.7</c:v>
                </c:pt>
                <c:pt idx="10">
                  <c:v>3.3</c:v>
                </c:pt>
                <c:pt idx="11">
                  <c:v>3.7</c:v>
                </c:pt>
                <c:pt idx="12">
                  <c:v>3.6</c:v>
                </c:pt>
                <c:pt idx="13">
                  <c:v>2.9</c:v>
                </c:pt>
                <c:pt idx="14">
                  <c:v>3.4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2014 – 2015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4E9EC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5B6770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Calibri" panose="020F0502020204030204"/>
                  </a:rPr>
                  <a:t>Refund Rate %</a:t>
                </a:r>
                <a:endParaRPr sz="1100" b="0" i="0" u="none" strike="noStrike">
                  <a:solidFill>
                    <a:srgbClr val="5B6770"/>
                  </a:solidFill>
                  <a:latin typeface="Calibri" panose="020F0502020204030204"/>
                </a:endParaRP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77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5a93045-d50a-43ec-b2ef-5a436f2c9f4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A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3-Year Growth Story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Ahmad  •  Data Analyst Portfolio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has the business grown over time?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Sessions and orders, March 2012 → February 2015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</p:spPr>
      </p:sp>
      <p:sp>
        <p:nvSpPr>
          <p:cNvPr id="6" name="Text 3"/>
          <p:cNvSpPr/>
          <p:nvPr/>
        </p:nvSpPr>
        <p:spPr>
          <a:xfrm>
            <a:off x="7955280" y="161848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1,879 → 23,778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55280" y="23317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sessions, Mar 2012 → Feb 2015 (12.7x growth)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</p:spPr>
      </p:sp>
      <p:sp>
        <p:nvSpPr>
          <p:cNvPr id="9" name="Text 6"/>
          <p:cNvSpPr/>
          <p:nvPr/>
        </p:nvSpPr>
        <p:spPr>
          <a:xfrm>
            <a:off x="7955280" y="317296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73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60 → 2,067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955280" y="38862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orders, same period (34.5x growth)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461772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EAF2F6"/>
          </a:solidFill>
        </p:spPr>
      </p:sp>
      <p:sp>
        <p:nvSpPr>
          <p:cNvPr id="12" name="Text 9"/>
          <p:cNvSpPr/>
          <p:nvPr/>
        </p:nvSpPr>
        <p:spPr>
          <a:xfrm>
            <a:off x="7955280" y="4727448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3.2% → 8.7%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955280" y="544068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rate at launch vs. peak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each visitor becoming more valuable?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per session over time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451725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8589645" y="2491740"/>
            <a:ext cx="3251835" cy="1750695"/>
            <a:chOff x="12240" y="2736"/>
            <a:chExt cx="6048" cy="2952"/>
          </a:xfrm>
        </p:grpSpPr>
        <p:sp>
          <p:nvSpPr>
            <p:cNvPr id="5" name="Shape 2"/>
            <p:cNvSpPr/>
            <p:nvPr/>
          </p:nvSpPr>
          <p:spPr>
            <a:xfrm>
              <a:off x="12240" y="2736"/>
              <a:ext cx="6048" cy="2953"/>
            </a:xfrm>
            <a:prstGeom prst="roundRect">
              <a:avLst>
                <a:gd name="adj" fmla="val 2381"/>
              </a:avLst>
            </a:prstGeom>
            <a:solidFill>
              <a:srgbClr val="21295C"/>
            </a:solidFill>
          </p:spPr>
        </p:sp>
        <p:sp>
          <p:nvSpPr>
            <p:cNvPr id="6" name="Text 3"/>
            <p:cNvSpPr/>
            <p:nvPr/>
          </p:nvSpPr>
          <p:spPr>
            <a:xfrm>
              <a:off x="12600" y="3240"/>
              <a:ext cx="5328" cy="129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$0.90 → $3.30</a:t>
              </a:r>
              <a:endParaRPr lang="en-US" sz="30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2600" y="4392"/>
              <a:ext cx="5328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7D2EE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Net profit per session, early days vs. peak</a:t>
              </a:r>
              <a:endParaRPr lang="en-US" sz="120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8001000" y="3611880"/>
            <a:ext cx="338328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are our customers coming from?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total sessions and coversion rate by traffic source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93445" y="1499870"/>
          <a:ext cx="10405745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800100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130" y="2819400"/>
            <a:ext cx="2429510" cy="635"/>
          </a:xfrm>
          <a:prstGeom prst="line">
            <a:avLst/>
          </a:prstGeom>
          <a:noFill/>
          <a:ln w="12700">
            <a:solidFill>
              <a:srgbClr val="E4E9EC"/>
            </a:solidFill>
            <a:prstDash val="solid"/>
          </a:ln>
        </p:spPr>
      </p:sp>
      <p:sp>
        <p:nvSpPr>
          <p:cNvPr id="4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Channels Bring the Most Valuable Customers?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1704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Efficiency vs. Volume by Channel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0" y="11887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A1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bubble size = share of total sessions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54480" y="1691640"/>
            <a:ext cx="0" cy="2286000"/>
          </a:xfrm>
          <a:prstGeom prst="line">
            <a:avLst/>
          </a:prstGeom>
          <a:noFill/>
          <a:ln w="12700">
            <a:solidFill>
              <a:srgbClr val="DCE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54480" y="3977640"/>
            <a:ext cx="8138160" cy="0"/>
          </a:xfrm>
          <a:prstGeom prst="line">
            <a:avLst/>
          </a:prstGeom>
          <a:noFill/>
          <a:ln w="12700">
            <a:solidFill>
              <a:srgbClr val="DCE3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54480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6.0%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82112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16352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6.5%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09744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3984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7.0%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37376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71616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7.5%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065008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99248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8.0%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692640" y="1691640"/>
            <a:ext cx="0" cy="228600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26880" y="403250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8.5%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554480" y="3977640"/>
            <a:ext cx="8138160" cy="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60120" y="3858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$2.0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1554480" y="3215640"/>
            <a:ext cx="8138160" cy="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960120" y="3096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$2.4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1554480" y="2453640"/>
            <a:ext cx="8138160" cy="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960120" y="2334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$2.8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1554480" y="1691640"/>
            <a:ext cx="8138160" cy="0"/>
          </a:xfrm>
          <a:prstGeom prst="line">
            <a:avLst/>
          </a:prstGeom>
          <a:noFill/>
          <a:ln w="12700">
            <a:solidFill>
              <a:srgbClr val="F0F3F5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960120" y="1572768"/>
            <a:ext cx="502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$3.2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4827905" y="4187190"/>
            <a:ext cx="1267460" cy="255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sz="900" i="1" dirty="0">
                <a:solidFill>
                  <a:srgbClr val="9AA1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Conversion </a:t>
            </a:r>
            <a:r>
              <a:rPr lang="en-US" sz="900" i="1" dirty="0">
                <a:solidFill>
                  <a:srgbClr val="9AA1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Rate  </a:t>
            </a:r>
            <a:endParaRPr lang="en-US" sz="900" i="1" dirty="0">
              <a:solidFill>
                <a:srgbClr val="9AA1AC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50" name="Text 27"/>
          <p:cNvSpPr/>
          <p:nvPr/>
        </p:nvSpPr>
        <p:spPr>
          <a:xfrm rot="16200000">
            <a:off x="311785" y="2991485"/>
            <a:ext cx="152527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r">
              <a:buClrTx/>
              <a:buSzTx/>
              <a:buFontTx/>
            </a:pPr>
            <a:r>
              <a:rPr lang="en-US" sz="900" i="1" dirty="0">
                <a:solidFill>
                  <a:srgbClr val="9AA1A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Profit / Session </a:t>
            </a:r>
            <a:endParaRPr lang="en-US" sz="900" i="1" dirty="0">
              <a:solidFill>
                <a:srgbClr val="9AA1AC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6858000" y="36301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52" name="Shape 30"/>
          <p:cNvSpPr/>
          <p:nvPr/>
        </p:nvSpPr>
        <p:spPr>
          <a:xfrm>
            <a:off x="3211373" y="2784348"/>
            <a:ext cx="1243584" cy="1243584"/>
          </a:xfrm>
          <a:prstGeom prst="ellipse">
            <a:avLst/>
          </a:prstGeom>
          <a:solidFill>
            <a:srgbClr val="1E295C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31"/>
          <p:cNvSpPr/>
          <p:nvPr/>
        </p:nvSpPr>
        <p:spPr>
          <a:xfrm>
            <a:off x="3211373" y="3259836"/>
            <a:ext cx="12435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71.4%</a:t>
            </a:r>
            <a:endParaRPr lang="en-US" sz="1400" dirty="0"/>
          </a:p>
        </p:txBody>
      </p:sp>
      <p:sp>
        <p:nvSpPr>
          <p:cNvPr id="54" name="Text 32"/>
          <p:cNvSpPr/>
          <p:nvPr/>
        </p:nvSpPr>
        <p:spPr>
          <a:xfrm>
            <a:off x="2827325" y="24734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Non-Brand</a:t>
            </a:r>
            <a:endParaRPr lang="en-US" sz="1250" dirty="0"/>
          </a:p>
        </p:txBody>
      </p:sp>
      <p:sp>
        <p:nvSpPr>
          <p:cNvPr id="55" name="Shape 33"/>
          <p:cNvSpPr/>
          <p:nvPr/>
        </p:nvSpPr>
        <p:spPr>
          <a:xfrm>
            <a:off x="5477415" y="2525732"/>
            <a:ext cx="617817" cy="617817"/>
          </a:xfrm>
          <a:prstGeom prst="ellipse">
            <a:avLst/>
          </a:prstGeom>
          <a:solidFill>
            <a:srgbClr val="1C7293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5477415" y="2688336"/>
            <a:ext cx="617817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17.6%</a:t>
            </a:r>
            <a:endParaRPr lang="en-US" sz="1100" dirty="0"/>
          </a:p>
        </p:txBody>
      </p:sp>
      <p:sp>
        <p:nvSpPr>
          <p:cNvPr id="57" name="Text 35"/>
          <p:cNvSpPr/>
          <p:nvPr/>
        </p:nvSpPr>
        <p:spPr>
          <a:xfrm>
            <a:off x="4780483" y="221483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UnKnown</a:t>
            </a:r>
            <a:endParaRPr lang="en-US" sz="1250" dirty="0"/>
          </a:p>
        </p:txBody>
      </p:sp>
      <p:sp>
        <p:nvSpPr>
          <p:cNvPr id="58" name="Shape 36"/>
          <p:cNvSpPr/>
          <p:nvPr/>
        </p:nvSpPr>
        <p:spPr>
          <a:xfrm>
            <a:off x="7196630" y="2236315"/>
            <a:ext cx="434650" cy="434650"/>
          </a:xfrm>
          <a:prstGeom prst="ellipse">
            <a:avLst/>
          </a:prstGeom>
          <a:solidFill>
            <a:srgbClr val="E8734A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37"/>
          <p:cNvSpPr/>
          <p:nvPr/>
        </p:nvSpPr>
        <p:spPr>
          <a:xfrm>
            <a:off x="6408115" y="192541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7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Brand</a:t>
            </a:r>
            <a:endParaRPr lang="en-US" sz="1250" dirty="0"/>
          </a:p>
        </p:txBody>
      </p:sp>
      <p:grpSp>
        <p:nvGrpSpPr>
          <p:cNvPr id="83" name="Group 82"/>
          <p:cNvGrpSpPr/>
          <p:nvPr/>
        </p:nvGrpSpPr>
        <p:grpSpPr>
          <a:xfrm>
            <a:off x="457200" y="4612005"/>
            <a:ext cx="3520440" cy="1783080"/>
            <a:chOff x="720" y="7128"/>
            <a:chExt cx="5544" cy="2808"/>
          </a:xfrm>
        </p:grpSpPr>
        <p:sp>
          <p:nvSpPr>
            <p:cNvPr id="60" name="Shape 38"/>
            <p:cNvSpPr/>
            <p:nvPr/>
          </p:nvSpPr>
          <p:spPr>
            <a:xfrm>
              <a:off x="720" y="7128"/>
              <a:ext cx="5544" cy="2808"/>
            </a:xfrm>
            <a:prstGeom prst="roundRect">
              <a:avLst>
                <a:gd name="adj" fmla="val 3077"/>
              </a:avLst>
            </a:prstGeom>
            <a:solidFill>
              <a:srgbClr val="EAF2F6"/>
            </a:solidFill>
          </p:spPr>
        </p:sp>
        <p:sp>
          <p:nvSpPr>
            <p:cNvPr id="61" name="Shape 39"/>
            <p:cNvSpPr/>
            <p:nvPr/>
          </p:nvSpPr>
          <p:spPr>
            <a:xfrm>
              <a:off x="720" y="7128"/>
              <a:ext cx="130" cy="2808"/>
            </a:xfrm>
            <a:prstGeom prst="roundRect">
              <a:avLst/>
            </a:prstGeom>
            <a:solidFill>
              <a:srgbClr val="1E295C"/>
            </a:solidFill>
          </p:spPr>
        </p:sp>
        <p:sp>
          <p:nvSpPr>
            <p:cNvPr id="62" name="Text 40"/>
            <p:cNvSpPr/>
            <p:nvPr/>
          </p:nvSpPr>
          <p:spPr>
            <a:xfrm>
              <a:off x="1152" y="7330"/>
              <a:ext cx="482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Non-Brand</a:t>
              </a:r>
              <a:endParaRPr lang="en-US" sz="1500" dirty="0"/>
            </a:p>
          </p:txBody>
        </p:sp>
        <p:sp>
          <p:nvSpPr>
            <p:cNvPr id="63" name="Text 41"/>
            <p:cNvSpPr/>
            <p:nvPr/>
          </p:nvSpPr>
          <p:spPr>
            <a:xfrm>
              <a:off x="1152" y="792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Sessions: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337,615 (71.4%)</a:t>
              </a:r>
              <a:endParaRPr lang="en-US" sz="1100" dirty="0"/>
            </a:p>
          </p:txBody>
        </p:sp>
        <p:sp>
          <p:nvSpPr>
            <p:cNvPr id="64" name="Text 42"/>
            <p:cNvSpPr/>
            <p:nvPr/>
          </p:nvSpPr>
          <p:spPr>
            <a:xfrm>
              <a:off x="1152" y="8395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Orders: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22,640</a:t>
              </a:r>
              <a:endParaRPr lang="en-US" sz="1100" dirty="0"/>
            </a:p>
          </p:txBody>
        </p:sp>
        <p:sp>
          <p:nvSpPr>
            <p:cNvPr id="65" name="Text 43"/>
            <p:cNvSpPr/>
            <p:nvPr/>
          </p:nvSpPr>
          <p:spPr>
            <a:xfrm>
              <a:off x="1152" y="887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Conversion Rate: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6.7%</a:t>
              </a:r>
              <a:endParaRPr lang="en-US" sz="1100" dirty="0"/>
            </a:p>
          </p:txBody>
        </p:sp>
        <p:sp>
          <p:nvSpPr>
            <p:cNvPr id="66" name="Text 44"/>
            <p:cNvSpPr/>
            <p:nvPr/>
          </p:nvSpPr>
          <p:spPr>
            <a:xfrm>
              <a:off x="1152" y="9346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Revenue / Profit per Session: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$3.8 / $2.3</a:t>
              </a:r>
              <a:endParaRPr lang="en-US" sz="1100" dirty="0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4251960" y="4612005"/>
            <a:ext cx="3520440" cy="1783080"/>
            <a:chOff x="6696" y="7128"/>
            <a:chExt cx="5544" cy="2808"/>
          </a:xfrm>
        </p:grpSpPr>
        <p:sp>
          <p:nvSpPr>
            <p:cNvPr id="67" name="Shape 45"/>
            <p:cNvSpPr/>
            <p:nvPr/>
          </p:nvSpPr>
          <p:spPr>
            <a:xfrm>
              <a:off x="6696" y="7128"/>
              <a:ext cx="5544" cy="2808"/>
            </a:xfrm>
            <a:prstGeom prst="roundRect">
              <a:avLst>
                <a:gd name="adj" fmla="val 3077"/>
              </a:avLst>
            </a:prstGeom>
            <a:solidFill>
              <a:srgbClr val="EAF2F6"/>
            </a:solidFill>
          </p:spPr>
        </p:sp>
        <p:sp>
          <p:nvSpPr>
            <p:cNvPr id="68" name="Shape 46"/>
            <p:cNvSpPr/>
            <p:nvPr/>
          </p:nvSpPr>
          <p:spPr>
            <a:xfrm>
              <a:off x="6696" y="7128"/>
              <a:ext cx="130" cy="2808"/>
            </a:xfrm>
            <a:prstGeom prst="roundRect">
              <a:avLst/>
            </a:prstGeom>
            <a:solidFill>
              <a:srgbClr val="1C7293"/>
            </a:solidFill>
          </p:spPr>
        </p:sp>
        <p:sp>
          <p:nvSpPr>
            <p:cNvPr id="69" name="Text 47"/>
            <p:cNvSpPr/>
            <p:nvPr/>
          </p:nvSpPr>
          <p:spPr>
            <a:xfrm>
              <a:off x="7128" y="7330"/>
              <a:ext cx="482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UnKnown</a:t>
              </a:r>
              <a:endParaRPr lang="en-US" sz="1500" dirty="0"/>
            </a:p>
          </p:txBody>
        </p:sp>
        <p:sp>
          <p:nvSpPr>
            <p:cNvPr id="70" name="Text 48"/>
            <p:cNvSpPr/>
            <p:nvPr/>
          </p:nvSpPr>
          <p:spPr>
            <a:xfrm>
              <a:off x="7128" y="792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Sessions: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83,328 (17.6%)</a:t>
              </a:r>
              <a:endParaRPr lang="en-US" sz="1100" dirty="0"/>
            </a:p>
          </p:txBody>
        </p:sp>
        <p:sp>
          <p:nvSpPr>
            <p:cNvPr id="71" name="Text 49"/>
            <p:cNvSpPr/>
            <p:nvPr/>
          </p:nvSpPr>
          <p:spPr>
            <a:xfrm>
              <a:off x="7128" y="8395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Orders: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6,118</a:t>
              </a:r>
              <a:endParaRPr lang="en-US" sz="1100" dirty="0"/>
            </a:p>
          </p:txBody>
        </p:sp>
        <p:sp>
          <p:nvSpPr>
            <p:cNvPr id="72" name="Text 50"/>
            <p:cNvSpPr/>
            <p:nvPr/>
          </p:nvSpPr>
          <p:spPr>
            <a:xfrm>
              <a:off x="7128" y="887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Conversion Rate: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7.3%</a:t>
              </a:r>
              <a:endParaRPr lang="en-US" sz="1100" dirty="0"/>
            </a:p>
          </p:txBody>
        </p:sp>
        <p:sp>
          <p:nvSpPr>
            <p:cNvPr id="73" name="Text 51"/>
            <p:cNvSpPr/>
            <p:nvPr/>
          </p:nvSpPr>
          <p:spPr>
            <a:xfrm>
              <a:off x="7128" y="9346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Revenue / Profit per Session: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$4.3 / $2.6</a:t>
              </a:r>
              <a:endParaRPr lang="en-US" sz="1100" dirty="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8046720" y="4612005"/>
            <a:ext cx="3520440" cy="1783080"/>
            <a:chOff x="12672" y="7128"/>
            <a:chExt cx="5544" cy="2808"/>
          </a:xfrm>
        </p:grpSpPr>
        <p:sp>
          <p:nvSpPr>
            <p:cNvPr id="74" name="Shape 52"/>
            <p:cNvSpPr/>
            <p:nvPr/>
          </p:nvSpPr>
          <p:spPr>
            <a:xfrm>
              <a:off x="12672" y="7128"/>
              <a:ext cx="5544" cy="2808"/>
            </a:xfrm>
            <a:prstGeom prst="roundRect">
              <a:avLst>
                <a:gd name="adj" fmla="val 3077"/>
              </a:avLst>
            </a:prstGeom>
            <a:solidFill>
              <a:srgbClr val="EAF2F6"/>
            </a:solidFill>
          </p:spPr>
        </p:sp>
        <p:sp>
          <p:nvSpPr>
            <p:cNvPr id="75" name="Shape 53"/>
            <p:cNvSpPr/>
            <p:nvPr/>
          </p:nvSpPr>
          <p:spPr>
            <a:xfrm>
              <a:off x="12672" y="7128"/>
              <a:ext cx="130" cy="2808"/>
            </a:xfrm>
            <a:prstGeom prst="roundRect">
              <a:avLst/>
            </a:prstGeom>
            <a:solidFill>
              <a:srgbClr val="E8734A"/>
            </a:solidFill>
          </p:spPr>
        </p:sp>
        <p:sp>
          <p:nvSpPr>
            <p:cNvPr id="76" name="Text 54"/>
            <p:cNvSpPr/>
            <p:nvPr/>
          </p:nvSpPr>
          <p:spPr>
            <a:xfrm>
              <a:off x="13104" y="7330"/>
              <a:ext cx="482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Brand</a:t>
              </a:r>
              <a:endParaRPr lang="en-US" sz="1500" dirty="0"/>
            </a:p>
          </p:txBody>
        </p:sp>
        <p:sp>
          <p:nvSpPr>
            <p:cNvPr id="77" name="Text 55"/>
            <p:cNvSpPr/>
            <p:nvPr/>
          </p:nvSpPr>
          <p:spPr>
            <a:xfrm>
              <a:off x="13104" y="792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Sessions: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41,243 (8.7%)</a:t>
              </a:r>
              <a:endParaRPr lang="en-US" sz="1100" dirty="0"/>
            </a:p>
          </p:txBody>
        </p:sp>
        <p:sp>
          <p:nvSpPr>
            <p:cNvPr id="78" name="Text 56"/>
            <p:cNvSpPr/>
            <p:nvPr/>
          </p:nvSpPr>
          <p:spPr>
            <a:xfrm>
              <a:off x="13104" y="8395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Total Orders: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3,212</a:t>
              </a:r>
              <a:endParaRPr lang="en-US" sz="1100" dirty="0"/>
            </a:p>
          </p:txBody>
        </p:sp>
        <p:sp>
          <p:nvSpPr>
            <p:cNvPr id="79" name="Text 57"/>
            <p:cNvSpPr/>
            <p:nvPr/>
          </p:nvSpPr>
          <p:spPr>
            <a:xfrm>
              <a:off x="13104" y="8870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Conversion Rate: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7.8%</a:t>
              </a:r>
              <a:endParaRPr lang="en-US" sz="1100" dirty="0"/>
            </a:p>
          </p:txBody>
        </p:sp>
        <p:sp>
          <p:nvSpPr>
            <p:cNvPr id="80" name="Text 58"/>
            <p:cNvSpPr/>
            <p:nvPr/>
          </p:nvSpPr>
          <p:spPr>
            <a:xfrm>
              <a:off x="13104" y="9346"/>
              <a:ext cx="482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5C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Revenue / Profit per Session:  </a:t>
              </a:r>
              <a:r>
                <a:rPr lang="en-US" sz="1100" dirty="0">
                  <a:solidFill>
                    <a:srgbClr val="5B6472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$4.5 / $2.8</a:t>
              </a:r>
              <a:endParaRPr lang="en-US" sz="1100" dirty="0"/>
            </a:p>
          </p:txBody>
        </p:sp>
      </p:grpSp>
      <p:sp>
        <p:nvSpPr>
          <p:cNvPr id="81" name="Text 59"/>
          <p:cNvSpPr/>
          <p:nvPr/>
        </p:nvSpPr>
        <p:spPr>
          <a:xfrm>
            <a:off x="412750" y="673735"/>
            <a:ext cx="860679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Non-Brand fuels 71% of sessions but converts worst; Brand converts best (7.8%) and earns 22% more profit per session </a:t>
            </a:r>
            <a:endParaRPr lang="en-US" sz="1250" dirty="0"/>
          </a:p>
        </p:txBody>
      </p:sp>
      <p:sp>
        <p:nvSpPr>
          <p:cNvPr id="82" name="Text 34"/>
          <p:cNvSpPr/>
          <p:nvPr/>
        </p:nvSpPr>
        <p:spPr>
          <a:xfrm>
            <a:off x="7199630" y="2334260"/>
            <a:ext cx="458470" cy="238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8.7%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any campaign underperforming?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Social Pilot campaign needs attention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4480560"/>
          </a:xfrm>
          <a:prstGeom prst="roundRect">
            <a:avLst>
              <a:gd name="adj" fmla="val 2381"/>
            </a:avLst>
          </a:prstGeom>
          <a:solidFill>
            <a:srgbClr val="FBEDE7"/>
          </a:solidFill>
        </p:spPr>
      </p:sp>
      <p:sp>
        <p:nvSpPr>
          <p:cNvPr id="6" name="Shape 3"/>
          <p:cNvSpPr/>
          <p:nvPr/>
        </p:nvSpPr>
        <p:spPr>
          <a:xfrm>
            <a:off x="8046720" y="1874520"/>
            <a:ext cx="548640" cy="548640"/>
          </a:xfrm>
          <a:prstGeom prst="ellipse">
            <a:avLst/>
          </a:prstGeom>
          <a:solidFill>
            <a:srgbClr val="E8734A"/>
          </a:solidFill>
        </p:spPr>
      </p:sp>
      <p:sp>
        <p:nvSpPr>
          <p:cNvPr id="7" name="Text 4"/>
          <p:cNvSpPr/>
          <p:nvPr/>
        </p:nvSpPr>
        <p:spPr>
          <a:xfrm>
            <a:off x="8046720" y="1874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32520" y="19202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Traffic without results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0" y="2606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Pilot converts at just 1.1% — six to seven times worse than the search campaigns, and weaker still on mobile.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3703320"/>
            <a:ext cx="3291840" cy="0"/>
          </a:xfrm>
          <a:prstGeom prst="line">
            <a:avLst/>
          </a:prstGeom>
          <a:noFill/>
          <a:ln w="12700">
            <a:solidFill>
              <a:srgbClr val="E8C4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3886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scaling spend, ask: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Right audience?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463600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 matches landing page?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502005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Mobile experience broken?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Are desktop and mobile equally valuable?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— this is the single biggest problem in the business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2C3A73"/>
          </a:solidFill>
        </p:spPr>
      </p:sp>
      <p:sp>
        <p:nvSpPr>
          <p:cNvPr id="5" name="Text 3"/>
          <p:cNvSpPr/>
          <p:nvPr/>
        </p:nvSpPr>
        <p:spPr>
          <a:xfrm>
            <a:off x="777240" y="21945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AFC9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CONVERSION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8.5%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E8734A"/>
          </a:solidFill>
        </p:spPr>
      </p:sp>
      <p:sp>
        <p:nvSpPr>
          <p:cNvPr id="8" name="Text 6"/>
          <p:cNvSpPr/>
          <p:nvPr/>
        </p:nvSpPr>
        <p:spPr>
          <a:xfrm>
            <a:off x="6263640" y="21945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BDB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CONVERSION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5603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3.1%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7D2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drives 31% of all traffic — but converts only 14% of orders.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users drop off? Desktop Vs Mobile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960120"/>
            <a:ext cx="201168" cy="20116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" name="Text 2"/>
          <p:cNvSpPr/>
          <p:nvPr/>
        </p:nvSpPr>
        <p:spPr>
          <a:xfrm>
            <a:off x="1188720" y="9601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1508760" y="8686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(327,027 Sessions)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201168" cy="201168"/>
          </a:xfrm>
          <a:prstGeom prst="ellipse">
            <a:avLst/>
          </a:prstGeom>
          <a:solidFill>
            <a:srgbClr val="E8734A"/>
          </a:solidFill>
        </p:spPr>
      </p:sp>
      <p:sp>
        <p:nvSpPr>
          <p:cNvPr id="7" name="Text 5"/>
          <p:cNvSpPr/>
          <p:nvPr/>
        </p:nvSpPr>
        <p:spPr>
          <a:xfrm>
            <a:off x="4846320" y="9601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5166360" y="8686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</a:t>
            </a:r>
            <a:r>
              <a:rPr lang="en-US" sz="12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(145,844 Sessions)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1417320"/>
          <a:ext cx="7863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9265920" y="14173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EAF2F6"/>
          </a:solidFill>
        </p:spPr>
      </p:sp>
      <p:sp>
        <p:nvSpPr>
          <p:cNvPr id="11" name="Text 8"/>
          <p:cNvSpPr/>
          <p:nvPr/>
        </p:nvSpPr>
        <p:spPr>
          <a:xfrm>
            <a:off x="9373870" y="164592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9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users drop off at every stage of the purchase journey.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8</a:t>
            </a:r>
            <a:endParaRPr lang="en-US" sz="10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1353185" y="5464810"/>
            <a:ext cx="6720840" cy="576580"/>
            <a:chOff x="893" y="9144"/>
            <a:chExt cx="14227" cy="1397"/>
          </a:xfrm>
        </p:grpSpPr>
        <p:sp>
          <p:nvSpPr>
            <p:cNvPr id="15" name="Text 12"/>
            <p:cNvSpPr/>
            <p:nvPr/>
          </p:nvSpPr>
          <p:spPr>
            <a:xfrm>
              <a:off x="1757" y="9144"/>
              <a:ext cx="8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🖼️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893" y="9749"/>
              <a:ext cx="259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Product Page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(Viewed)</a:t>
              </a:r>
              <a:endParaRPr lang="en-US" sz="105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4666" y="9144"/>
              <a:ext cx="8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🛒</a:t>
              </a:r>
              <a:endParaRPr lang="en-US" sz="16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3802" y="9749"/>
              <a:ext cx="259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Cart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(Add to Cart)</a:t>
              </a:r>
              <a:endParaRPr lang="en-US" sz="105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574" y="9144"/>
              <a:ext cx="8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🚚</a:t>
              </a:r>
              <a:endParaRPr lang="en-US" sz="1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710" y="9749"/>
              <a:ext cx="259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Shipping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(Started)</a:t>
              </a:r>
              <a:endParaRPr lang="en-US" sz="105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0483" y="9144"/>
              <a:ext cx="8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💳</a:t>
              </a:r>
              <a:endParaRPr lang="en-US" sz="16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619" y="9749"/>
              <a:ext cx="259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Billing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(Started)</a:t>
              </a:r>
              <a:endParaRPr lang="en-US" sz="105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3392" y="9144"/>
              <a:ext cx="8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✅</a:t>
              </a:r>
              <a:endParaRPr lang="en-US" sz="16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12528" y="9749"/>
              <a:ext cx="2592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Order</a:t>
              </a:r>
              <a:endParaRPr lang="en-US" sz="1050" dirty="0"/>
            </a:p>
            <a:p>
              <a:pPr marL="0" indent="0" algn="ctr">
                <a:buNone/>
              </a:pPr>
              <a:r>
                <a:rPr lang="en-US" sz="1050" dirty="0">
                  <a:solidFill>
                    <a:srgbClr val="444444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(Completed)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9</a:t>
            </a:r>
            <a:endParaRPr lang="en-US" sz="1000" dirty="0"/>
          </a:p>
        </p:txBody>
      </p:sp>
      <p:sp>
        <p:nvSpPr>
          <p:cNvPr id="29" name="Text 0"/>
          <p:cNvSpPr/>
          <p:nvPr/>
        </p:nvSpPr>
        <p:spPr>
          <a:xfrm>
            <a:off x="457200" y="292735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Has the Product Strategy Evolved?</a:t>
            </a:r>
            <a:endParaRPr lang="en-US" sz="2800" dirty="0"/>
          </a:p>
        </p:txBody>
      </p:sp>
      <p:sp>
        <p:nvSpPr>
          <p:cNvPr id="30" name="Text 1"/>
          <p:cNvSpPr/>
          <p:nvPr/>
        </p:nvSpPr>
        <p:spPr>
          <a:xfrm>
            <a:off x="457200" y="7772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one product to a diversified $1.83M portfolio</a:t>
            </a:r>
            <a:endParaRPr lang="en-US" sz="1400" dirty="0"/>
          </a:p>
        </p:txBody>
      </p:sp>
      <p:sp>
        <p:nvSpPr>
          <p:cNvPr id="31" name="Shape 2"/>
          <p:cNvSpPr/>
          <p:nvPr/>
        </p:nvSpPr>
        <p:spPr>
          <a:xfrm>
            <a:off x="457200" y="3703320"/>
            <a:ext cx="113385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revenue by product</a:t>
            </a:r>
            <a:endParaRPr lang="en-US" sz="1200" dirty="0"/>
          </a:p>
        </p:txBody>
      </p:sp>
      <p:sp>
        <p:nvSpPr>
          <p:cNvPr id="33" name="Shape 4"/>
          <p:cNvSpPr/>
          <p:nvPr/>
        </p:nvSpPr>
        <p:spPr>
          <a:xfrm>
            <a:off x="1188720" y="1737360"/>
            <a:ext cx="1188720" cy="1965960"/>
          </a:xfrm>
          <a:prstGeom prst="roundRect">
            <a:avLst>
              <a:gd name="adj" fmla="val 4615"/>
            </a:avLst>
          </a:prstGeom>
          <a:solidFill>
            <a:srgbClr val="1E295C"/>
          </a:solidFill>
        </p:spPr>
      </p:sp>
      <p:sp>
        <p:nvSpPr>
          <p:cNvPr id="34" name="Text 5"/>
          <p:cNvSpPr/>
          <p:nvPr/>
        </p:nvSpPr>
        <p:spPr>
          <a:xfrm>
            <a:off x="1097280" y="1408430"/>
            <a:ext cx="1371600" cy="29273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$1.14M</a:t>
            </a:r>
            <a:endParaRPr lang="en-US" sz="1500" dirty="0"/>
          </a:p>
        </p:txBody>
      </p:sp>
      <p:sp>
        <p:nvSpPr>
          <p:cNvPr id="35" name="Shape 6"/>
          <p:cNvSpPr/>
          <p:nvPr/>
        </p:nvSpPr>
        <p:spPr>
          <a:xfrm>
            <a:off x="4114800" y="3124200"/>
            <a:ext cx="1188720" cy="579120"/>
          </a:xfrm>
          <a:prstGeom prst="roundRect">
            <a:avLst>
              <a:gd name="adj" fmla="val 9476"/>
            </a:avLst>
          </a:prstGeom>
          <a:solidFill>
            <a:srgbClr val="1C7293"/>
          </a:solidFill>
        </p:spPr>
      </p:sp>
      <p:sp>
        <p:nvSpPr>
          <p:cNvPr id="36" name="Text 7"/>
          <p:cNvSpPr/>
          <p:nvPr/>
        </p:nvSpPr>
        <p:spPr>
          <a:xfrm>
            <a:off x="4023360" y="2795270"/>
            <a:ext cx="1371600" cy="29273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$336K</a:t>
            </a:r>
            <a:endParaRPr lang="en-US" sz="1500" dirty="0"/>
          </a:p>
        </p:txBody>
      </p:sp>
      <p:sp>
        <p:nvSpPr>
          <p:cNvPr id="37" name="Shape 8"/>
          <p:cNvSpPr/>
          <p:nvPr/>
        </p:nvSpPr>
        <p:spPr>
          <a:xfrm>
            <a:off x="7040880" y="3341370"/>
            <a:ext cx="1188720" cy="361950"/>
          </a:xfrm>
          <a:prstGeom prst="roundRect">
            <a:avLst>
              <a:gd name="adj" fmla="val 15168"/>
            </a:avLst>
          </a:prstGeom>
          <a:solidFill>
            <a:srgbClr val="1C7293"/>
          </a:solidFill>
        </p:spPr>
      </p:sp>
      <p:sp>
        <p:nvSpPr>
          <p:cNvPr id="38" name="Text 9"/>
          <p:cNvSpPr/>
          <p:nvPr/>
        </p:nvSpPr>
        <p:spPr>
          <a:xfrm>
            <a:off x="6949440" y="3012440"/>
            <a:ext cx="1371600" cy="29273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$210K</a:t>
            </a:r>
            <a:endParaRPr lang="en-US" sz="1500" dirty="0"/>
          </a:p>
        </p:txBody>
      </p:sp>
      <p:sp>
        <p:nvSpPr>
          <p:cNvPr id="39" name="Shape 10"/>
          <p:cNvSpPr/>
          <p:nvPr/>
        </p:nvSpPr>
        <p:spPr>
          <a:xfrm>
            <a:off x="9966960" y="3465195"/>
            <a:ext cx="1188720" cy="238125"/>
          </a:xfrm>
          <a:prstGeom prst="roundRect">
            <a:avLst>
              <a:gd name="adj" fmla="val 23067"/>
            </a:avLst>
          </a:prstGeom>
          <a:solidFill>
            <a:srgbClr val="E8734A"/>
          </a:solidFill>
        </p:spPr>
      </p:sp>
      <p:sp>
        <p:nvSpPr>
          <p:cNvPr id="40" name="Text 11"/>
          <p:cNvSpPr/>
          <p:nvPr/>
        </p:nvSpPr>
        <p:spPr>
          <a:xfrm>
            <a:off x="9875520" y="3136265"/>
            <a:ext cx="1371600" cy="292735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7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$138K</a:t>
            </a:r>
            <a:endParaRPr lang="en-US" sz="1500" dirty="0"/>
          </a:p>
        </p:txBody>
      </p:sp>
      <p:sp>
        <p:nvSpPr>
          <p:cNvPr id="41" name="Shape 12"/>
          <p:cNvSpPr/>
          <p:nvPr/>
        </p:nvSpPr>
        <p:spPr>
          <a:xfrm>
            <a:off x="457200" y="3703320"/>
            <a:ext cx="2651760" cy="2541270"/>
          </a:xfrm>
          <a:prstGeom prst="roundRect">
            <a:avLst>
              <a:gd name="adj" fmla="val 2353"/>
            </a:avLst>
          </a:prstGeom>
          <a:solidFill>
            <a:srgbClr val="1E295C"/>
          </a:solidFill>
        </p:spPr>
      </p:sp>
      <p:sp>
        <p:nvSpPr>
          <p:cNvPr id="42" name="Shape 13"/>
          <p:cNvSpPr/>
          <p:nvPr/>
        </p:nvSpPr>
        <p:spPr>
          <a:xfrm>
            <a:off x="1471930" y="3392170"/>
            <a:ext cx="457200" cy="457200"/>
          </a:xfrm>
          <a:prstGeom prst="ellipse">
            <a:avLst/>
          </a:prstGeom>
          <a:solidFill>
            <a:srgbClr val="1E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14"/>
          <p:cNvSpPr/>
          <p:nvPr/>
        </p:nvSpPr>
        <p:spPr>
          <a:xfrm>
            <a:off x="1395730" y="3315970"/>
            <a:ext cx="621665" cy="621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15"/>
          <p:cNvSpPr/>
          <p:nvPr/>
        </p:nvSpPr>
        <p:spPr>
          <a:xfrm>
            <a:off x="306324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16"/>
          <p:cNvSpPr/>
          <p:nvPr/>
        </p:nvSpPr>
        <p:spPr>
          <a:xfrm>
            <a:off x="594360" y="388747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Mr. Fuzzy </a:t>
            </a:r>
            <a:endParaRPr lang="en-US" sz="1500" dirty="0"/>
          </a:p>
        </p:txBody>
      </p:sp>
      <p:sp>
        <p:nvSpPr>
          <p:cNvPr id="46" name="Text 17"/>
          <p:cNvSpPr/>
          <p:nvPr/>
        </p:nvSpPr>
        <p:spPr>
          <a:xfrm>
            <a:off x="594360" y="4208145"/>
            <a:ext cx="2377440" cy="255905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7CC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 2012</a:t>
            </a:r>
            <a:endParaRPr lang="en-US" sz="1050" dirty="0"/>
          </a:p>
        </p:txBody>
      </p:sp>
      <p:sp>
        <p:nvSpPr>
          <p:cNvPr id="47" name="Shape 18"/>
          <p:cNvSpPr/>
          <p:nvPr/>
        </p:nvSpPr>
        <p:spPr>
          <a:xfrm>
            <a:off x="777240" y="4526280"/>
            <a:ext cx="201168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48" name="Text 19"/>
          <p:cNvSpPr/>
          <p:nvPr/>
        </p:nvSpPr>
        <p:spPr>
          <a:xfrm>
            <a:off x="640080" y="466344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CC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640080" y="484632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47.1%</a:t>
            </a:r>
            <a:endParaRPr lang="en-US" sz="1500" dirty="0"/>
          </a:p>
        </p:txBody>
      </p:sp>
      <p:sp>
        <p:nvSpPr>
          <p:cNvPr id="50" name="Text 21"/>
          <p:cNvSpPr/>
          <p:nvPr/>
        </p:nvSpPr>
        <p:spPr>
          <a:xfrm>
            <a:off x="640080" y="5139055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CC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51" name="Text 22"/>
          <p:cNvSpPr/>
          <p:nvPr/>
        </p:nvSpPr>
        <p:spPr>
          <a:xfrm>
            <a:off x="640080" y="5321935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669,531</a:t>
            </a:r>
            <a:endParaRPr lang="en-US" sz="1500" dirty="0"/>
          </a:p>
        </p:txBody>
      </p:sp>
      <p:sp>
        <p:nvSpPr>
          <p:cNvPr id="52" name="Text 23"/>
          <p:cNvSpPr/>
          <p:nvPr/>
        </p:nvSpPr>
        <p:spPr>
          <a:xfrm>
            <a:off x="640080" y="561467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CC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 Growth*</a:t>
            </a:r>
            <a:endParaRPr lang="en-US" sz="900" dirty="0"/>
          </a:p>
        </p:txBody>
      </p:sp>
      <p:sp>
        <p:nvSpPr>
          <p:cNvPr id="53" name="Text 24"/>
          <p:cNvSpPr/>
          <p:nvPr/>
        </p:nvSpPr>
        <p:spPr>
          <a:xfrm>
            <a:off x="640080" y="579755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27.6%</a:t>
            </a:r>
            <a:endParaRPr lang="en-US" sz="1500" dirty="0"/>
          </a:p>
        </p:txBody>
      </p:sp>
      <p:sp>
        <p:nvSpPr>
          <p:cNvPr id="54" name="Shape 25"/>
          <p:cNvSpPr/>
          <p:nvPr/>
        </p:nvSpPr>
        <p:spPr>
          <a:xfrm>
            <a:off x="3383280" y="3703320"/>
            <a:ext cx="2651760" cy="2551430"/>
          </a:xfrm>
          <a:prstGeom prst="roundRect">
            <a:avLst>
              <a:gd name="adj" fmla="val 2353"/>
            </a:avLst>
          </a:prstGeom>
          <a:solidFill>
            <a:srgbClr val="EAF2F6"/>
          </a:solidFill>
        </p:spPr>
      </p:sp>
      <p:sp>
        <p:nvSpPr>
          <p:cNvPr id="55" name="Shape 26"/>
          <p:cNvSpPr/>
          <p:nvPr/>
        </p:nvSpPr>
        <p:spPr>
          <a:xfrm>
            <a:off x="4398010" y="3392170"/>
            <a:ext cx="621665" cy="621665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27"/>
          <p:cNvSpPr/>
          <p:nvPr/>
        </p:nvSpPr>
        <p:spPr>
          <a:xfrm>
            <a:off x="4398010" y="3392170"/>
            <a:ext cx="621665" cy="621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28"/>
          <p:cNvSpPr/>
          <p:nvPr/>
        </p:nvSpPr>
        <p:spPr>
          <a:xfrm>
            <a:off x="598932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58" name="Text 29"/>
          <p:cNvSpPr/>
          <p:nvPr/>
        </p:nvSpPr>
        <p:spPr>
          <a:xfrm>
            <a:off x="3520440" y="393509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Love Bear</a:t>
            </a:r>
            <a:endParaRPr lang="en-US" sz="1500" dirty="0"/>
          </a:p>
        </p:txBody>
      </p:sp>
      <p:sp>
        <p:nvSpPr>
          <p:cNvPr id="59" name="Text 30"/>
          <p:cNvSpPr/>
          <p:nvPr/>
        </p:nvSpPr>
        <p:spPr>
          <a:xfrm>
            <a:off x="3520440" y="4255770"/>
            <a:ext cx="2377440" cy="255905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Jan 2013</a:t>
            </a:r>
            <a:endParaRPr lang="en-US" sz="1050" dirty="0"/>
          </a:p>
        </p:txBody>
      </p:sp>
      <p:sp>
        <p:nvSpPr>
          <p:cNvPr id="60" name="Shape 31"/>
          <p:cNvSpPr/>
          <p:nvPr/>
        </p:nvSpPr>
        <p:spPr>
          <a:xfrm>
            <a:off x="3703320" y="4526280"/>
            <a:ext cx="2011680" cy="0"/>
          </a:xfrm>
          <a:prstGeom prst="line">
            <a:avLst/>
          </a:prstGeom>
          <a:noFill/>
          <a:ln w="12700">
            <a:solidFill>
              <a:srgbClr val="D6E0E6"/>
            </a:solidFill>
            <a:prstDash val="solid"/>
          </a:ln>
        </p:spPr>
      </p:sp>
      <p:sp>
        <p:nvSpPr>
          <p:cNvPr id="61" name="Text 32"/>
          <p:cNvSpPr/>
          <p:nvPr/>
        </p:nvSpPr>
        <p:spPr>
          <a:xfrm>
            <a:off x="3566160" y="466344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62" name="Text 33"/>
          <p:cNvSpPr/>
          <p:nvPr/>
        </p:nvSpPr>
        <p:spPr>
          <a:xfrm>
            <a:off x="3566160" y="484632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58.0%</a:t>
            </a:r>
            <a:endParaRPr lang="en-US" sz="1500" dirty="0"/>
          </a:p>
        </p:txBody>
      </p:sp>
      <p:sp>
        <p:nvSpPr>
          <p:cNvPr id="63" name="Text 34"/>
          <p:cNvSpPr/>
          <p:nvPr/>
        </p:nvSpPr>
        <p:spPr>
          <a:xfrm>
            <a:off x="3566160" y="5139055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64" name="Text 35"/>
          <p:cNvSpPr/>
          <p:nvPr/>
        </p:nvSpPr>
        <p:spPr>
          <a:xfrm>
            <a:off x="3566160" y="5321935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205,892</a:t>
            </a:r>
            <a:endParaRPr lang="en-US" sz="1500" dirty="0"/>
          </a:p>
        </p:txBody>
      </p:sp>
      <p:sp>
        <p:nvSpPr>
          <p:cNvPr id="65" name="Text 36"/>
          <p:cNvSpPr/>
          <p:nvPr/>
        </p:nvSpPr>
        <p:spPr>
          <a:xfrm>
            <a:off x="3566160" y="561467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 Growth*</a:t>
            </a:r>
            <a:endParaRPr lang="en-US" sz="900" dirty="0"/>
          </a:p>
        </p:txBody>
      </p:sp>
      <p:sp>
        <p:nvSpPr>
          <p:cNvPr id="66" name="Text 37"/>
          <p:cNvSpPr/>
          <p:nvPr/>
        </p:nvSpPr>
        <p:spPr>
          <a:xfrm>
            <a:off x="3566160" y="579755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35.5%</a:t>
            </a:r>
            <a:endParaRPr lang="en-US" sz="1500" dirty="0"/>
          </a:p>
        </p:txBody>
      </p:sp>
      <p:sp>
        <p:nvSpPr>
          <p:cNvPr id="67" name="Shape 38"/>
          <p:cNvSpPr/>
          <p:nvPr/>
        </p:nvSpPr>
        <p:spPr>
          <a:xfrm>
            <a:off x="6309360" y="3703320"/>
            <a:ext cx="2651760" cy="2541270"/>
          </a:xfrm>
          <a:prstGeom prst="roundRect">
            <a:avLst>
              <a:gd name="adj" fmla="val 2353"/>
            </a:avLst>
          </a:prstGeom>
          <a:solidFill>
            <a:srgbClr val="EAF2F6"/>
          </a:solidFill>
        </p:spPr>
      </p:sp>
      <p:sp>
        <p:nvSpPr>
          <p:cNvPr id="69" name="Shape 39"/>
          <p:cNvSpPr/>
          <p:nvPr/>
        </p:nvSpPr>
        <p:spPr>
          <a:xfrm>
            <a:off x="7324090" y="3392170"/>
            <a:ext cx="621665" cy="621665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0" name="Text 40"/>
          <p:cNvSpPr/>
          <p:nvPr/>
        </p:nvSpPr>
        <p:spPr>
          <a:xfrm>
            <a:off x="7324090" y="3392170"/>
            <a:ext cx="621665" cy="621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Text 41"/>
          <p:cNvSpPr/>
          <p:nvPr/>
        </p:nvSpPr>
        <p:spPr>
          <a:xfrm>
            <a:off x="891540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72" name="Text 42"/>
          <p:cNvSpPr/>
          <p:nvPr/>
        </p:nvSpPr>
        <p:spPr>
          <a:xfrm>
            <a:off x="6446520" y="39827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Sugar Panda</a:t>
            </a:r>
            <a:endParaRPr lang="en-US" sz="1500" dirty="0"/>
          </a:p>
        </p:txBody>
      </p:sp>
      <p:sp>
        <p:nvSpPr>
          <p:cNvPr id="73" name="Text 43"/>
          <p:cNvSpPr/>
          <p:nvPr/>
        </p:nvSpPr>
        <p:spPr>
          <a:xfrm>
            <a:off x="6446520" y="4255770"/>
            <a:ext cx="2377440" cy="255905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 2013</a:t>
            </a:r>
            <a:endParaRPr lang="en-US" sz="1050" dirty="0"/>
          </a:p>
        </p:txBody>
      </p:sp>
      <p:sp>
        <p:nvSpPr>
          <p:cNvPr id="74" name="Shape 44"/>
          <p:cNvSpPr/>
          <p:nvPr/>
        </p:nvSpPr>
        <p:spPr>
          <a:xfrm>
            <a:off x="6629400" y="4526280"/>
            <a:ext cx="2011680" cy="0"/>
          </a:xfrm>
          <a:prstGeom prst="line">
            <a:avLst/>
          </a:prstGeom>
          <a:noFill/>
          <a:ln w="12700">
            <a:solidFill>
              <a:srgbClr val="D6E0E6"/>
            </a:solidFill>
            <a:prstDash val="solid"/>
          </a:ln>
        </p:spPr>
      </p:sp>
      <p:sp>
        <p:nvSpPr>
          <p:cNvPr id="75" name="Text 45"/>
          <p:cNvSpPr/>
          <p:nvPr/>
        </p:nvSpPr>
        <p:spPr>
          <a:xfrm>
            <a:off x="6492240" y="466344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76" name="Text 46"/>
          <p:cNvSpPr/>
          <p:nvPr/>
        </p:nvSpPr>
        <p:spPr>
          <a:xfrm>
            <a:off x="6492240" y="484632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42.1%</a:t>
            </a:r>
            <a:endParaRPr lang="en-US" sz="1500" dirty="0"/>
          </a:p>
        </p:txBody>
      </p:sp>
      <p:sp>
        <p:nvSpPr>
          <p:cNvPr id="77" name="Text 47"/>
          <p:cNvSpPr/>
          <p:nvPr/>
        </p:nvSpPr>
        <p:spPr>
          <a:xfrm>
            <a:off x="6492240" y="5139055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78" name="Text 48"/>
          <p:cNvSpPr/>
          <p:nvPr/>
        </p:nvSpPr>
        <p:spPr>
          <a:xfrm>
            <a:off x="6492240" y="5321935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137,826</a:t>
            </a:r>
            <a:endParaRPr lang="en-US" sz="1500" dirty="0"/>
          </a:p>
        </p:txBody>
      </p:sp>
      <p:sp>
        <p:nvSpPr>
          <p:cNvPr id="79" name="Text 49"/>
          <p:cNvSpPr/>
          <p:nvPr/>
        </p:nvSpPr>
        <p:spPr>
          <a:xfrm>
            <a:off x="6492240" y="561467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 Growth*</a:t>
            </a:r>
            <a:endParaRPr lang="en-US" sz="900" dirty="0"/>
          </a:p>
        </p:txBody>
      </p:sp>
      <p:sp>
        <p:nvSpPr>
          <p:cNvPr id="80" name="Text 50"/>
          <p:cNvSpPr/>
          <p:nvPr/>
        </p:nvSpPr>
        <p:spPr>
          <a:xfrm>
            <a:off x="6492240" y="579755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27.6%</a:t>
            </a:r>
            <a:endParaRPr lang="en-US" sz="1500" dirty="0"/>
          </a:p>
        </p:txBody>
      </p:sp>
      <p:sp>
        <p:nvSpPr>
          <p:cNvPr id="81" name="Shape 51"/>
          <p:cNvSpPr/>
          <p:nvPr/>
        </p:nvSpPr>
        <p:spPr>
          <a:xfrm>
            <a:off x="9235440" y="3703320"/>
            <a:ext cx="2651760" cy="2541270"/>
          </a:xfrm>
          <a:prstGeom prst="roundRect">
            <a:avLst>
              <a:gd name="adj" fmla="val 2353"/>
            </a:avLst>
          </a:prstGeom>
          <a:solidFill>
            <a:srgbClr val="EAF2F6"/>
          </a:solidFill>
        </p:spPr>
      </p:sp>
      <p:sp>
        <p:nvSpPr>
          <p:cNvPr id="82" name="Shape 52"/>
          <p:cNvSpPr/>
          <p:nvPr/>
        </p:nvSpPr>
        <p:spPr>
          <a:xfrm>
            <a:off x="10250170" y="3392170"/>
            <a:ext cx="621665" cy="621665"/>
          </a:xfrm>
          <a:prstGeom prst="ellipse">
            <a:avLst/>
          </a:prstGeom>
          <a:solidFill>
            <a:srgbClr val="E87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3" name="Text 53"/>
          <p:cNvSpPr/>
          <p:nvPr/>
        </p:nvSpPr>
        <p:spPr>
          <a:xfrm>
            <a:off x="10250170" y="3392170"/>
            <a:ext cx="621665" cy="6216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84" name="Text 54"/>
          <p:cNvSpPr/>
          <p:nvPr/>
        </p:nvSpPr>
        <p:spPr>
          <a:xfrm>
            <a:off x="9372600" y="39446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 Bear</a:t>
            </a:r>
            <a:endParaRPr lang="en-US" sz="1500" dirty="0"/>
          </a:p>
        </p:txBody>
      </p:sp>
      <p:sp>
        <p:nvSpPr>
          <p:cNvPr id="85" name="Text 55"/>
          <p:cNvSpPr/>
          <p:nvPr/>
        </p:nvSpPr>
        <p:spPr>
          <a:xfrm>
            <a:off x="9372600" y="4246245"/>
            <a:ext cx="2377440" cy="255905"/>
          </a:xfrm>
          <a:prstGeom prst="rect">
            <a:avLst/>
          </a:prstGeom>
          <a:noFill/>
        </p:spPr>
        <p:txBody>
          <a:bodyPr wrap="square" lIns="0" tIns="0" rIns="0" bIns="0" rtlCol="0" anchor="b" anchorCtr="0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Feb 2014</a:t>
            </a:r>
            <a:endParaRPr lang="en-US" sz="1050" dirty="0"/>
          </a:p>
        </p:txBody>
      </p:sp>
      <p:sp>
        <p:nvSpPr>
          <p:cNvPr id="86" name="Shape 56"/>
          <p:cNvSpPr/>
          <p:nvPr/>
        </p:nvSpPr>
        <p:spPr>
          <a:xfrm>
            <a:off x="9555480" y="4526280"/>
            <a:ext cx="2011680" cy="0"/>
          </a:xfrm>
          <a:prstGeom prst="line">
            <a:avLst/>
          </a:prstGeom>
          <a:noFill/>
          <a:ln w="12700">
            <a:solidFill>
              <a:srgbClr val="D6E0E6"/>
            </a:solidFill>
            <a:prstDash val="solid"/>
          </a:ln>
        </p:spPr>
      </p:sp>
      <p:sp>
        <p:nvSpPr>
          <p:cNvPr id="87" name="Text 57"/>
          <p:cNvSpPr/>
          <p:nvPr/>
        </p:nvSpPr>
        <p:spPr>
          <a:xfrm>
            <a:off x="9418320" y="466344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88" name="Text 58"/>
          <p:cNvSpPr/>
          <p:nvPr/>
        </p:nvSpPr>
        <p:spPr>
          <a:xfrm>
            <a:off x="9418320" y="484632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27.5%</a:t>
            </a:r>
            <a:endParaRPr lang="en-US" sz="1500" dirty="0"/>
          </a:p>
        </p:txBody>
      </p:sp>
      <p:sp>
        <p:nvSpPr>
          <p:cNvPr id="89" name="Text 59"/>
          <p:cNvSpPr/>
          <p:nvPr/>
        </p:nvSpPr>
        <p:spPr>
          <a:xfrm>
            <a:off x="9418320" y="5139055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90" name="Text 60"/>
          <p:cNvSpPr/>
          <p:nvPr/>
        </p:nvSpPr>
        <p:spPr>
          <a:xfrm>
            <a:off x="9418320" y="5321935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90,502</a:t>
            </a:r>
            <a:endParaRPr lang="en-US" sz="1500" dirty="0"/>
          </a:p>
        </p:txBody>
      </p:sp>
      <p:sp>
        <p:nvSpPr>
          <p:cNvPr id="91" name="Text 61"/>
          <p:cNvSpPr/>
          <p:nvPr/>
        </p:nvSpPr>
        <p:spPr>
          <a:xfrm>
            <a:off x="9418320" y="5614670"/>
            <a:ext cx="228600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 Growth*</a:t>
            </a:r>
            <a:endParaRPr lang="en-US" sz="900" dirty="0"/>
          </a:p>
        </p:txBody>
      </p:sp>
      <p:sp>
        <p:nvSpPr>
          <p:cNvPr id="92" name="Text 62"/>
          <p:cNvSpPr/>
          <p:nvPr/>
        </p:nvSpPr>
        <p:spPr>
          <a:xfrm>
            <a:off x="9418320" y="5797550"/>
            <a:ext cx="228600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18.0%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Refunds Improved Overall, With One Anomaly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refund rate, Jan 2014 – Mar 2015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91770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|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0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560070" y="5032375"/>
            <a:ext cx="11064240" cy="1009650"/>
            <a:chOff x="864" y="2160"/>
            <a:chExt cx="17424" cy="1590"/>
          </a:xfrm>
        </p:grpSpPr>
        <p:sp>
          <p:nvSpPr>
            <p:cNvPr id="70" name="Shape 1"/>
            <p:cNvSpPr/>
            <p:nvPr/>
          </p:nvSpPr>
          <p:spPr>
            <a:xfrm>
              <a:off x="864" y="2160"/>
              <a:ext cx="17424" cy="1584"/>
            </a:xfrm>
            <a:prstGeom prst="roundRect">
              <a:avLst>
                <a:gd name="adj" fmla="val 7273"/>
              </a:avLst>
            </a:prstGeom>
            <a:solidFill>
              <a:srgbClr val="EAF2F6"/>
            </a:solidFill>
          </p:spPr>
        </p:sp>
        <p:grpSp>
          <p:nvGrpSpPr>
            <p:cNvPr id="92" name="Group 91"/>
            <p:cNvGrpSpPr/>
            <p:nvPr/>
          </p:nvGrpSpPr>
          <p:grpSpPr>
            <a:xfrm>
              <a:off x="1368" y="2448"/>
              <a:ext cx="1008" cy="1056"/>
              <a:chOff x="1368" y="2448"/>
              <a:chExt cx="1008" cy="1056"/>
            </a:xfrm>
          </p:grpSpPr>
          <p:sp>
            <p:nvSpPr>
              <p:cNvPr id="71" name="Shape 2"/>
              <p:cNvSpPr/>
              <p:nvPr/>
            </p:nvSpPr>
            <p:spPr>
              <a:xfrm>
                <a:off x="1368" y="2496"/>
                <a:ext cx="1008" cy="1008"/>
              </a:xfrm>
              <a:prstGeom prst="ellipse">
                <a:avLst/>
              </a:prstGeom>
              <a:solidFill>
                <a:srgbClr val="065A82"/>
              </a:solidFill>
            </p:spPr>
          </p:sp>
          <p:sp>
            <p:nvSpPr>
              <p:cNvPr id="72" name="Text 3"/>
              <p:cNvSpPr/>
              <p:nvPr/>
            </p:nvSpPr>
            <p:spPr>
              <a:xfrm>
                <a:off x="1368" y="2448"/>
                <a:ext cx="1008" cy="1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</a:t>
                </a:r>
                <a:endParaRPr lang="en-US" sz="2400" dirty="0"/>
              </a:p>
            </p:txBody>
          </p:sp>
        </p:grpSp>
        <p:sp>
          <p:nvSpPr>
            <p:cNvPr id="73" name="Text 4"/>
            <p:cNvSpPr/>
            <p:nvPr/>
          </p:nvSpPr>
          <p:spPr>
            <a:xfrm>
              <a:off x="2880" y="2419"/>
              <a:ext cx="1497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1295C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Protect brand search spend</a:t>
              </a:r>
              <a:endParaRPr lang="en-US" sz="1800" dirty="0"/>
            </a:p>
          </p:txBody>
        </p:sp>
        <p:sp>
          <p:nvSpPr>
            <p:cNvPr id="74" name="Text 5"/>
            <p:cNvSpPr/>
            <p:nvPr/>
          </p:nvSpPr>
          <p:spPr>
            <a:xfrm>
              <a:off x="2880" y="3030"/>
              <a:ext cx="14976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5B677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Outperforms non-brand on conversion and profit per session, across both Google and Bing.</a:t>
              </a:r>
              <a:endParaRPr lang="en-US" sz="1300" dirty="0"/>
            </a:p>
          </p:txBody>
        </p:sp>
      </p:grpSp>
      <p:sp>
        <p:nvSpPr>
          <p:cNvPr id="75" name="Shape 6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F6"/>
          </a:solidFill>
        </p:spPr>
      </p:sp>
      <p:sp>
        <p:nvSpPr>
          <p:cNvPr id="76" name="Shape 7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E8734A"/>
          </a:solidFill>
        </p:spPr>
      </p:sp>
      <p:sp>
        <p:nvSpPr>
          <p:cNvPr id="77" name="Text 8"/>
          <p:cNvSpPr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400" dirty="0"/>
          </a:p>
        </p:txBody>
      </p:sp>
      <p:sp>
        <p:nvSpPr>
          <p:cNvPr id="78" name="Text 9"/>
          <p:cNvSpPr/>
          <p:nvPr/>
        </p:nvSpPr>
        <p:spPr>
          <a:xfrm>
            <a:off x="1828800" y="2770632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Fix mobile UX, not mobile spend</a:t>
            </a:r>
            <a:endParaRPr lang="en-US" sz="1800" dirty="0"/>
          </a:p>
        </p:txBody>
      </p:sp>
      <p:sp>
        <p:nvSpPr>
          <p:cNvPr id="79" name="Text 10"/>
          <p:cNvSpPr/>
          <p:nvPr/>
        </p:nvSpPr>
        <p:spPr>
          <a:xfrm>
            <a:off x="1828800" y="315874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traffic won't fix a 3.1% conversion rate.</a:t>
            </a:r>
            <a:endParaRPr lang="en-US" sz="1300" dirty="0"/>
          </a:p>
        </p:txBody>
      </p:sp>
      <p:sp>
        <p:nvSpPr>
          <p:cNvPr id="80" name="Shape 11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F6"/>
          </a:solidFill>
        </p:spPr>
      </p:sp>
      <p:sp>
        <p:nvSpPr>
          <p:cNvPr id="81" name="Shape 12"/>
          <p:cNvSpPr/>
          <p:nvPr/>
        </p:nvSpPr>
        <p:spPr>
          <a:xfrm>
            <a:off x="868680" y="402336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82" name="Text 13"/>
          <p:cNvSpPr/>
          <p:nvPr/>
        </p:nvSpPr>
        <p:spPr>
          <a:xfrm>
            <a:off x="868680" y="40233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400" dirty="0"/>
          </a:p>
        </p:txBody>
      </p:sp>
      <p:sp>
        <p:nvSpPr>
          <p:cNvPr id="83" name="Text 14"/>
          <p:cNvSpPr/>
          <p:nvPr/>
        </p:nvSpPr>
        <p:spPr>
          <a:xfrm>
            <a:off x="1828800" y="4005072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Audit Social Pilot before scaling it</a:t>
            </a:r>
            <a:endParaRPr lang="en-US" sz="1800" dirty="0"/>
          </a:p>
        </p:txBody>
      </p:sp>
      <p:sp>
        <p:nvSpPr>
          <p:cNvPr id="84" name="Text 15"/>
          <p:cNvSpPr/>
          <p:nvPr/>
        </p:nvSpPr>
        <p:spPr>
          <a:xfrm>
            <a:off x="1828800" y="439318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1.1% conversion vs. 6.7-8.9% elsewhere in search is likely a targeting or landing-page issue.</a:t>
            </a:r>
            <a:endParaRPr lang="en-US" sz="1300" dirty="0"/>
          </a:p>
        </p:txBody>
      </p:sp>
      <p:grpSp>
        <p:nvGrpSpPr>
          <p:cNvPr id="95" name="Group 94"/>
          <p:cNvGrpSpPr/>
          <p:nvPr/>
        </p:nvGrpSpPr>
        <p:grpSpPr>
          <a:xfrm>
            <a:off x="560070" y="1402080"/>
            <a:ext cx="11064240" cy="1009650"/>
            <a:chOff x="864" y="7992"/>
            <a:chExt cx="17424" cy="1590"/>
          </a:xfrm>
        </p:grpSpPr>
        <p:sp>
          <p:nvSpPr>
            <p:cNvPr id="85" name="Shape 16"/>
            <p:cNvSpPr/>
            <p:nvPr/>
          </p:nvSpPr>
          <p:spPr>
            <a:xfrm>
              <a:off x="864" y="7992"/>
              <a:ext cx="17424" cy="1584"/>
            </a:xfrm>
            <a:prstGeom prst="roundRect">
              <a:avLst>
                <a:gd name="adj" fmla="val 7273"/>
              </a:avLst>
            </a:prstGeom>
            <a:solidFill>
              <a:srgbClr val="EAF2F6"/>
            </a:solidFill>
          </p:spPr>
        </p:sp>
        <p:grpSp>
          <p:nvGrpSpPr>
            <p:cNvPr id="94" name="Group 93"/>
            <p:cNvGrpSpPr/>
            <p:nvPr/>
          </p:nvGrpSpPr>
          <p:grpSpPr>
            <a:xfrm>
              <a:off x="1368" y="8280"/>
              <a:ext cx="1008" cy="1040"/>
              <a:chOff x="1368" y="8280"/>
              <a:chExt cx="1008" cy="1040"/>
            </a:xfrm>
          </p:grpSpPr>
          <p:sp>
            <p:nvSpPr>
              <p:cNvPr id="86" name="Shape 17"/>
              <p:cNvSpPr/>
              <p:nvPr/>
            </p:nvSpPr>
            <p:spPr>
              <a:xfrm>
                <a:off x="1368" y="8312"/>
                <a:ext cx="1008" cy="1008"/>
              </a:xfrm>
              <a:prstGeom prst="ellipse">
                <a:avLst/>
              </a:prstGeom>
              <a:solidFill>
                <a:srgbClr val="4E8FA3"/>
              </a:solidFill>
            </p:spPr>
          </p:sp>
          <p:sp>
            <p:nvSpPr>
              <p:cNvPr id="87" name="Text 18"/>
              <p:cNvSpPr/>
              <p:nvPr/>
            </p:nvSpPr>
            <p:spPr>
              <a:xfrm>
                <a:off x="1368" y="8280"/>
                <a:ext cx="1008" cy="100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4</a:t>
                </a:r>
                <a:endParaRPr lang="en-US" sz="2400" dirty="0"/>
              </a:p>
            </p:txBody>
          </p:sp>
        </p:grpSp>
        <p:sp>
          <p:nvSpPr>
            <p:cNvPr id="88" name="Text 19"/>
            <p:cNvSpPr/>
            <p:nvPr/>
          </p:nvSpPr>
          <p:spPr>
            <a:xfrm>
              <a:off x="2880" y="8251"/>
              <a:ext cx="1497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1295C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Investigate the Aug–Sep 2014 refund spike</a:t>
              </a:r>
              <a:endParaRPr lang="en-US" sz="1800" dirty="0"/>
            </a:p>
          </p:txBody>
        </p:sp>
        <p:sp>
          <p:nvSpPr>
            <p:cNvPr id="89" name="Text 20"/>
            <p:cNvSpPr/>
            <p:nvPr/>
          </p:nvSpPr>
          <p:spPr>
            <a:xfrm>
              <a:off x="2880" y="8862"/>
              <a:ext cx="14976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5B677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It could be </a:t>
              </a:r>
              <a:r>
                <a:rPr lang="en-US" altLang="en-US" sz="1300" dirty="0">
                  <a:solidFill>
                    <a:srgbClr val="5B677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shipping problems, or a promotion that attracted the wrong customers.</a:t>
              </a:r>
              <a:endParaRPr lang="en-US" altLang="en-US" sz="13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90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Maven Fuzzy Factory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FA3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We've already built a strong engine for bringing customers to the site.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7D2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next stage of growth is making sure more of those customers, especially on mobile actually complete the journey and buy.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657600" cy="0"/>
          </a:xfrm>
          <a:prstGeom prst="line">
            <a:avLst/>
          </a:prstGeom>
          <a:noFill/>
          <a:ln w="12700">
            <a:solidFill>
              <a:srgbClr val="3A4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analysis, SQL Code, and dashboards on GitHub — link below.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Ahmad  •  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3545</Words>
  <Application>WPS Presentation</Application>
  <PresentationFormat>On-screen Show (16:9)</PresentationFormat>
  <Paragraphs>327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GNG</cp:lastModifiedBy>
  <cp:revision>4</cp:revision>
  <dcterms:created xsi:type="dcterms:W3CDTF">2026-08-21T10:43:00Z</dcterms:created>
  <dcterms:modified xsi:type="dcterms:W3CDTF">2026-08-25T09:40:15Z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4F961297920942B7ABFCACC6ACF48FE1_12</vt:lpwstr>
  </property>
</Properties>
</file>